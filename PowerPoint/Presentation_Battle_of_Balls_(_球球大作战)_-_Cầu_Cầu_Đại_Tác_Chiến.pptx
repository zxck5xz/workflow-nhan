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685800" y="2011680"/>
            <a:ext cx="73152" cy="27432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058400" cy="2286000"/>
          </a:xfrm>
          <a:prstGeom prst="rect">
            <a:avLst/>
          </a:prstGeom>
          <a:noFill/>
        </p:spPr>
        <p:txBody>
          <a:bodyPr wrap="square" lIns="0" rIns="0" tIns="0" bIns="0">
            <a:spAutoFit/>
          </a:bodyPr>
          <a:lstStyle/>
          <a:p>
            <a:pPr>
              <a:spcAft>
                <a:spcPts val="1200"/>
              </a:spcAft>
              <a:defRPr sz="4400" b="1">
                <a:solidFill>
                  <a:srgbClr val="F9FAFB"/>
                </a:solidFill>
                <a:latin typeface="Trebuchet MS"/>
              </a:defRPr>
            </a:pPr>
            <a:r>
              <a:t>Battle of Balls ( 球球大作战) - Cầu Cầu Đại Tác Chiến</a:t>
            </a:r>
          </a:p>
          <a:p>
            <a:pPr>
              <a:spcAft>
                <a:spcPts val="2400"/>
              </a:spcAft>
              <a:defRPr sz="1800">
                <a:solidFill>
                  <a:srgbClr val="FF6B35"/>
                </a:solidFill>
                <a:latin typeface="Calibri"/>
              </a:defRPr>
            </a:pPr>
            <a:r>
              <a:t>Báo cáo Đánh giá Sản phẩm  |  Thể loại: ** Hyper casual - realtime multiplayer arena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lIns="0" rIns="0" tIns="0" bIns="0">
            <a:spAutoFit/>
          </a:bodyPr>
          <a:lstStyle/>
          <a:p>
            <a:pPr>
              <a:defRPr sz="2800" b="1">
                <a:solidFill>
                  <a:srgbClr val="00E5FF"/>
                </a:solidFill>
                <a:latin typeface="Trebuchet MS"/>
              </a:defRPr>
            </a:pPr>
            <a:r>
              <a:t>Tổng quan dự án</a:t>
            </a:r>
          </a:p>
          <a:p>
            <a:pPr>
              <a:spcBef>
                <a:spcPts val="400"/>
              </a:spcBef>
              <a:defRPr sz="1000" b="1">
                <a:solidFill>
                  <a:srgbClr val="9CA3AF"/>
                </a:solidFill>
                <a:latin typeface="Calibri"/>
              </a:defRPr>
            </a:pPr>
            <a:r>
              <a:t>TỔNG KẾT THÔNG TIN</a:t>
            </a:r>
          </a:p>
        </p:txBody>
      </p:sp>
      <p:sp>
        <p:nvSpPr>
          <p:cNvPr id="3" name="Rectangle 2"/>
          <p:cNvSpPr/>
          <p:nvPr/>
        </p:nvSpPr>
        <p:spPr>
          <a:xfrm>
            <a:off x="685800" y="1234440"/>
            <a:ext cx="10820095" cy="1828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4389120"/>
          </a:xfrm>
          <a:prstGeom prst="rect">
            <a:avLst/>
          </a:prstGeom>
          <a:noFill/>
        </p:spPr>
        <p:txBody>
          <a:bodyPr wrap="square" lIns="0" rIns="0" tIns="0" bIns="0">
            <a:spAutoFit/>
          </a:bodyPr>
          <a:lstStyle/>
          <a:p>
            <a:pPr>
              <a:spcAft>
                <a:spcPts val="800"/>
              </a:spcAft>
              <a:defRPr sz="1500">
                <a:solidFill>
                  <a:srgbClr val="F9FAFB"/>
                </a:solidFill>
                <a:latin typeface="Calibri"/>
              </a:defRPr>
            </a:pPr>
            <a:r>
              <a:t>• **Tên sản phẩm:** Battle of Balls ( 球球大作战) - Cầu Cầu Đại Tác Chiến</a:t>
            </a:r>
          </a:p>
          <a:p>
            <a:pPr>
              <a:spcAft>
                <a:spcPts val="800"/>
              </a:spcAft>
              <a:defRPr sz="1500">
                <a:solidFill>
                  <a:srgbClr val="F9FAFB"/>
                </a:solidFill>
                <a:latin typeface="Calibri"/>
              </a:defRPr>
            </a:pPr>
            <a:r>
              <a:t>• **Thể loại:** Hyper casual - realtime multiplayer arena</a:t>
            </a:r>
          </a:p>
          <a:p>
            <a:pPr>
              <a:spcAft>
                <a:spcPts val="800"/>
              </a:spcAft>
              <a:defRPr sz="1500">
                <a:solidFill>
                  <a:srgbClr val="F9FAFB"/>
                </a:solidFill>
                <a:latin typeface="Calibri"/>
              </a:defRPr>
            </a:pPr>
            <a:r>
              <a:t>• **Đối thủ chính:** Không có (N/A)</a:t>
            </a:r>
          </a:p>
          <a:p>
            <a:pPr>
              <a:spcAft>
                <a:spcPts val="800"/>
              </a:spcAft>
              <a:defRPr sz="1500">
                <a:solidFill>
                  <a:srgbClr val="F9FAFB"/>
                </a:solidFill>
                <a:latin typeface="Calibri"/>
              </a:defRPr>
            </a:pPr>
            <a:r>
              <a:t>• **Chỉ số đánh giá trung bình:** 3.77/5.0</a:t>
            </a:r>
          </a:p>
          <a:p>
            <a:pPr>
              <a:spcAft>
                <a:spcPts val="800"/>
              </a:spcAft>
              <a:defRPr sz="1500">
                <a:solidFill>
                  <a:srgbClr val="F9FAFB"/>
                </a:solidFill>
                <a:latin typeface="Calibri"/>
              </a:defRPr>
            </a:pPr>
            <a:r>
              <a:t>• **Tóm tắt nhanh:** Báo cáo được phân tích tự động từ dữ liệu ghi chú Excel và phân tích cạnh tranh của AI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lIns="0" rIns="0" tIns="0" bIns="0">
            <a:spAutoFit/>
          </a:bodyPr>
          <a:lstStyle/>
          <a:p>
            <a:pPr>
              <a:defRPr sz="2800" b="1">
                <a:solidFill>
                  <a:srgbClr val="00E5FF"/>
                </a:solidFill>
                <a:latin typeface="Trebuchet MS"/>
              </a:defRPr>
            </a:pPr>
            <a:r>
              <a:t>Bảng điểm chất lượng (Scorecard)</a:t>
            </a:r>
          </a:p>
          <a:p>
            <a:pPr>
              <a:spcBef>
                <a:spcPts val="400"/>
              </a:spcBef>
              <a:defRPr sz="1000" b="1">
                <a:solidFill>
                  <a:srgbClr val="9CA3AF"/>
                </a:solidFill>
                <a:latin typeface="Calibri"/>
              </a:defRPr>
            </a:pPr>
            <a:r>
              <a:t>ĐÁNH GIÁ CHẤT LƯỢNG</a:t>
            </a:r>
          </a:p>
        </p:txBody>
      </p:sp>
      <p:sp>
        <p:nvSpPr>
          <p:cNvPr id="3" name="Rectangle 2"/>
          <p:cNvSpPr/>
          <p:nvPr/>
        </p:nvSpPr>
        <p:spPr>
          <a:xfrm>
            <a:off x="685800" y="1234440"/>
            <a:ext cx="10820095" cy="1828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54480"/>
            <a:ext cx="5029200" cy="411480"/>
          </a:xfrm>
          <a:prstGeom prst="rect">
            <a:avLst/>
          </a:prstGeom>
          <a:noFill/>
        </p:spPr>
        <p:txBody>
          <a:bodyPr wrap="square" lIns="0" rIns="0" tIns="0" bIns="0">
            <a:spAutoFit/>
          </a:bodyPr>
          <a:lstStyle/>
          <a:p>
            <a:pPr>
              <a:defRPr sz="1300" b="1">
                <a:solidFill>
                  <a:srgbClr val="F9FAFB"/>
                </a:solidFill>
                <a:latin typeface="Calibri"/>
              </a:defRPr>
            </a:pPr>
            <a:r>
              <a:t>SWOT - Strengh</a:t>
            </a:r>
            <a:r>
              <a:rPr sz="1300" b="1">
                <a:solidFill>
                  <a:srgbClr val="10B981"/>
                </a:solidFill>
                <a:latin typeface="Calibri"/>
              </a:rPr>
              <a:t>  (4.3/5.0)</a:t>
            </a:r>
          </a:p>
        </p:txBody>
      </p:sp>
      <p:sp>
        <p:nvSpPr>
          <p:cNvPr id="5" name="Rectangle 4"/>
          <p:cNvSpPr/>
          <p:nvPr/>
        </p:nvSpPr>
        <p:spPr>
          <a:xfrm>
            <a:off x="5943600" y="1700784"/>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0" y="1700784"/>
            <a:ext cx="4718304"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93392"/>
            <a:ext cx="5029200" cy="411480"/>
          </a:xfrm>
          <a:prstGeom prst="rect">
            <a:avLst/>
          </a:prstGeom>
          <a:noFill/>
        </p:spPr>
        <p:txBody>
          <a:bodyPr wrap="square" lIns="0" rIns="0" tIns="0" bIns="0">
            <a:spAutoFit/>
          </a:bodyPr>
          <a:lstStyle/>
          <a:p>
            <a:pPr>
              <a:defRPr sz="1300" b="1">
                <a:solidFill>
                  <a:srgbClr val="F9FAFB"/>
                </a:solidFill>
                <a:latin typeface="Calibri"/>
              </a:defRPr>
            </a:pPr>
            <a:r>
              <a:t>SWOT - Weakness</a:t>
            </a:r>
            <a:r>
              <a:rPr sz="1300" b="1">
                <a:solidFill>
                  <a:srgbClr val="10B981"/>
                </a:solidFill>
                <a:latin typeface="Calibri"/>
              </a:rPr>
              <a:t>  (4.3/5.0)</a:t>
            </a:r>
          </a:p>
        </p:txBody>
      </p:sp>
      <p:sp>
        <p:nvSpPr>
          <p:cNvPr id="8" name="Rectangle 7"/>
          <p:cNvSpPr/>
          <p:nvPr/>
        </p:nvSpPr>
        <p:spPr>
          <a:xfrm>
            <a:off x="5943600" y="2139696"/>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0" y="2139696"/>
            <a:ext cx="4718304"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432304"/>
            <a:ext cx="5029200" cy="411480"/>
          </a:xfrm>
          <a:prstGeom prst="rect">
            <a:avLst/>
          </a:prstGeom>
          <a:noFill/>
        </p:spPr>
        <p:txBody>
          <a:bodyPr wrap="square" lIns="0" rIns="0" tIns="0" bIns="0">
            <a:spAutoFit/>
          </a:bodyPr>
          <a:lstStyle/>
          <a:p>
            <a:pPr>
              <a:defRPr sz="1300" b="1">
                <a:solidFill>
                  <a:srgbClr val="F9FAFB"/>
                </a:solidFill>
                <a:latin typeface="Calibri"/>
              </a:defRPr>
            </a:pPr>
            <a:r>
              <a:t>SWOT - Oppotunities</a:t>
            </a:r>
            <a:r>
              <a:rPr sz="1300" b="1">
                <a:solidFill>
                  <a:srgbClr val="10B981"/>
                </a:solidFill>
                <a:latin typeface="Calibri"/>
              </a:rPr>
              <a:t>  (4.3/5.0)</a:t>
            </a:r>
          </a:p>
        </p:txBody>
      </p:sp>
      <p:sp>
        <p:nvSpPr>
          <p:cNvPr id="11" name="Rectangle 10"/>
          <p:cNvSpPr/>
          <p:nvPr/>
        </p:nvSpPr>
        <p:spPr>
          <a:xfrm>
            <a:off x="5943600" y="2578608"/>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0" y="2578608"/>
            <a:ext cx="4718304"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71216"/>
            <a:ext cx="5029200" cy="411480"/>
          </a:xfrm>
          <a:prstGeom prst="rect">
            <a:avLst/>
          </a:prstGeom>
          <a:noFill/>
        </p:spPr>
        <p:txBody>
          <a:bodyPr wrap="square" lIns="0" rIns="0" tIns="0" bIns="0">
            <a:spAutoFit/>
          </a:bodyPr>
          <a:lstStyle/>
          <a:p>
            <a:pPr>
              <a:defRPr sz="1300" b="1">
                <a:solidFill>
                  <a:srgbClr val="F9FAFB"/>
                </a:solidFill>
                <a:latin typeface="Calibri"/>
              </a:defRPr>
            </a:pPr>
            <a:r>
              <a:t>SWOT - Threats</a:t>
            </a:r>
            <a:r>
              <a:rPr sz="1300" b="1">
                <a:solidFill>
                  <a:srgbClr val="10B981"/>
                </a:solidFill>
                <a:latin typeface="Calibri"/>
              </a:rPr>
              <a:t>  (4.3/5.0)</a:t>
            </a:r>
          </a:p>
        </p:txBody>
      </p:sp>
      <p:sp>
        <p:nvSpPr>
          <p:cNvPr id="14" name="Rectangle 13"/>
          <p:cNvSpPr/>
          <p:nvPr/>
        </p:nvSpPr>
        <p:spPr>
          <a:xfrm>
            <a:off x="5943600" y="3017520"/>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3017520"/>
            <a:ext cx="4718304"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10128"/>
            <a:ext cx="5029200" cy="411480"/>
          </a:xfrm>
          <a:prstGeom prst="rect">
            <a:avLst/>
          </a:prstGeom>
          <a:noFill/>
        </p:spPr>
        <p:txBody>
          <a:bodyPr wrap="square" lIns="0" rIns="0" tIns="0" bIns="0">
            <a:spAutoFit/>
          </a:bodyPr>
          <a:lstStyle/>
          <a:p>
            <a:pPr>
              <a:defRPr sz="1300" b="1">
                <a:solidFill>
                  <a:srgbClr val="F9FAFB"/>
                </a:solidFill>
                <a:latin typeface="Calibri"/>
              </a:defRPr>
            </a:pPr>
            <a:r>
              <a:t>Tổng kết đánh giá</a:t>
            </a:r>
            <a:r>
              <a:rPr sz="1300" b="1">
                <a:solidFill>
                  <a:srgbClr val="00E5FF"/>
                </a:solidFill>
                <a:latin typeface="Calibri"/>
              </a:rPr>
              <a:t>  (3.0/5.0)</a:t>
            </a:r>
          </a:p>
        </p:txBody>
      </p:sp>
      <p:sp>
        <p:nvSpPr>
          <p:cNvPr id="17" name="Rectangle 16"/>
          <p:cNvSpPr/>
          <p:nvPr/>
        </p:nvSpPr>
        <p:spPr>
          <a:xfrm>
            <a:off x="5943600" y="3456432"/>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3456432"/>
            <a:ext cx="3291840"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49040"/>
            <a:ext cx="5029200" cy="411480"/>
          </a:xfrm>
          <a:prstGeom prst="rect">
            <a:avLst/>
          </a:prstGeom>
          <a:noFill/>
        </p:spPr>
        <p:txBody>
          <a:bodyPr wrap="square" lIns="0" rIns="0" tIns="0" bIns="0">
            <a:spAutoFit/>
          </a:bodyPr>
          <a:lstStyle/>
          <a:p>
            <a:pPr>
              <a:defRPr sz="1300" b="1">
                <a:solidFill>
                  <a:srgbClr val="F9FAFB"/>
                </a:solidFill>
                <a:latin typeface="Calibri"/>
              </a:defRPr>
            </a:pPr>
            <a:r>
              <a:t>Cổ điển</a:t>
            </a:r>
            <a:r>
              <a:rPr sz="1300" b="1">
                <a:solidFill>
                  <a:srgbClr val="00E5FF"/>
                </a:solidFill>
                <a:latin typeface="Calibri"/>
              </a:rPr>
              <a:t>  (3.5/5.0)</a:t>
            </a:r>
          </a:p>
        </p:txBody>
      </p:sp>
      <p:sp>
        <p:nvSpPr>
          <p:cNvPr id="20" name="Rectangle 19"/>
          <p:cNvSpPr/>
          <p:nvPr/>
        </p:nvSpPr>
        <p:spPr>
          <a:xfrm>
            <a:off x="5943600" y="3895344"/>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0" y="3895344"/>
            <a:ext cx="3840479"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187952"/>
            <a:ext cx="5029200" cy="411480"/>
          </a:xfrm>
          <a:prstGeom prst="rect">
            <a:avLst/>
          </a:prstGeom>
          <a:noFill/>
        </p:spPr>
        <p:txBody>
          <a:bodyPr wrap="square" lIns="0" rIns="0" tIns="0" bIns="0">
            <a:spAutoFit/>
          </a:bodyPr>
          <a:lstStyle/>
          <a:p>
            <a:pPr>
              <a:defRPr sz="1300" b="1">
                <a:solidFill>
                  <a:srgbClr val="F9FAFB"/>
                </a:solidFill>
                <a:latin typeface="Calibri"/>
              </a:defRPr>
            </a:pPr>
            <a:r>
              <a:t>Xếp hạng đỉnh cao</a:t>
            </a:r>
            <a:r>
              <a:rPr sz="1300" b="1">
                <a:solidFill>
                  <a:srgbClr val="00E5FF"/>
                </a:solidFill>
                <a:latin typeface="Calibri"/>
              </a:rPr>
              <a:t>  (3.5/5.0)</a:t>
            </a:r>
          </a:p>
        </p:txBody>
      </p:sp>
      <p:sp>
        <p:nvSpPr>
          <p:cNvPr id="23" name="Rectangle 22"/>
          <p:cNvSpPr/>
          <p:nvPr/>
        </p:nvSpPr>
        <p:spPr>
          <a:xfrm>
            <a:off x="5943600" y="4334256"/>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0" y="4334256"/>
            <a:ext cx="3840479"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626864"/>
            <a:ext cx="5029200" cy="411480"/>
          </a:xfrm>
          <a:prstGeom prst="rect">
            <a:avLst/>
          </a:prstGeom>
          <a:noFill/>
        </p:spPr>
        <p:txBody>
          <a:bodyPr wrap="square" lIns="0" rIns="0" tIns="0" bIns="0">
            <a:spAutoFit/>
          </a:bodyPr>
          <a:lstStyle/>
          <a:p>
            <a:pPr>
              <a:defRPr sz="1300" b="1">
                <a:solidFill>
                  <a:srgbClr val="F9FAFB"/>
                </a:solidFill>
                <a:latin typeface="Calibri"/>
              </a:defRPr>
            </a:pPr>
            <a:r>
              <a:t>Thi đấu phổ thông</a:t>
            </a:r>
            <a:r>
              <a:rPr sz="1300" b="1">
                <a:solidFill>
                  <a:srgbClr val="00E5FF"/>
                </a:solidFill>
                <a:latin typeface="Calibri"/>
              </a:rPr>
              <a:t>  (3.5/5.0)</a:t>
            </a:r>
          </a:p>
        </p:txBody>
      </p:sp>
      <p:sp>
        <p:nvSpPr>
          <p:cNvPr id="26" name="Rectangle 25"/>
          <p:cNvSpPr/>
          <p:nvPr/>
        </p:nvSpPr>
        <p:spPr>
          <a:xfrm>
            <a:off x="5943600" y="4773168"/>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4773168"/>
            <a:ext cx="3840479"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065776"/>
            <a:ext cx="5029200" cy="411480"/>
          </a:xfrm>
          <a:prstGeom prst="rect">
            <a:avLst/>
          </a:prstGeom>
          <a:noFill/>
        </p:spPr>
        <p:txBody>
          <a:bodyPr wrap="square" lIns="0" rIns="0" tIns="0" bIns="0">
            <a:spAutoFit/>
          </a:bodyPr>
          <a:lstStyle/>
          <a:p>
            <a:pPr>
              <a:defRPr sz="1300" b="1">
                <a:solidFill>
                  <a:srgbClr val="F9FAFB"/>
                </a:solidFill>
                <a:latin typeface="Calibri"/>
              </a:defRPr>
            </a:pPr>
            <a:r>
              <a:t>Chế độ giải trí</a:t>
            </a:r>
            <a:r>
              <a:rPr sz="1300" b="1">
                <a:solidFill>
                  <a:srgbClr val="00E5FF"/>
                </a:solidFill>
                <a:latin typeface="Calibri"/>
              </a:rPr>
              <a:t>  (3.5/5.0)</a:t>
            </a:r>
          </a:p>
        </p:txBody>
      </p:sp>
      <p:sp>
        <p:nvSpPr>
          <p:cNvPr id="29" name="Rectangle 28"/>
          <p:cNvSpPr/>
          <p:nvPr/>
        </p:nvSpPr>
        <p:spPr>
          <a:xfrm>
            <a:off x="5943600" y="5212080"/>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0" y="5212080"/>
            <a:ext cx="3840479"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504688"/>
            <a:ext cx="5029200" cy="411480"/>
          </a:xfrm>
          <a:prstGeom prst="rect">
            <a:avLst/>
          </a:prstGeom>
          <a:noFill/>
        </p:spPr>
        <p:txBody>
          <a:bodyPr wrap="square" lIns="0" rIns="0" tIns="0" bIns="0">
            <a:spAutoFit/>
          </a:bodyPr>
          <a:lstStyle/>
          <a:p>
            <a:pPr>
              <a:defRPr sz="1300" b="1">
                <a:solidFill>
                  <a:srgbClr val="F9FAFB"/>
                </a:solidFill>
                <a:latin typeface="Calibri"/>
              </a:defRPr>
            </a:pPr>
            <a:r>
              <a:t>Chế độ huấn luyện</a:t>
            </a:r>
            <a:r>
              <a:rPr sz="1300" b="1">
                <a:solidFill>
                  <a:srgbClr val="00E5FF"/>
                </a:solidFill>
                <a:latin typeface="Calibri"/>
              </a:rPr>
              <a:t>  (3.5/5.0)</a:t>
            </a:r>
          </a:p>
        </p:txBody>
      </p:sp>
      <p:sp>
        <p:nvSpPr>
          <p:cNvPr id="32" name="Rectangle 31"/>
          <p:cNvSpPr/>
          <p:nvPr/>
        </p:nvSpPr>
        <p:spPr>
          <a:xfrm>
            <a:off x="5943600" y="5650992"/>
            <a:ext cx="5486400" cy="10972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43600" y="5650992"/>
            <a:ext cx="3840479"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lIns="0" rIns="0" tIns="0" bIns="0">
            <a:spAutoFit/>
          </a:bodyPr>
          <a:lstStyle/>
          <a:p>
            <a:pPr>
              <a:defRPr sz="2800" b="1">
                <a:solidFill>
                  <a:srgbClr val="00E5FF"/>
                </a:solidFill>
                <a:latin typeface="Trebuchet MS"/>
              </a:defRPr>
            </a:pPr>
            <a:r>
              <a:t>Phân tích Chi tiết Hạng mục (Phần 1)</a:t>
            </a:r>
          </a:p>
          <a:p>
            <a:pPr>
              <a:spcBef>
                <a:spcPts val="400"/>
              </a:spcBef>
              <a:defRPr sz="1000" b="1">
                <a:solidFill>
                  <a:srgbClr val="9CA3AF"/>
                </a:solidFill>
                <a:latin typeface="Calibri"/>
              </a:defRPr>
            </a:pPr>
            <a:r>
              <a:t>PHÂN TÍCH CHI TIẾT</a:t>
            </a:r>
          </a:p>
        </p:txBody>
      </p:sp>
      <p:sp>
        <p:nvSpPr>
          <p:cNvPr id="3" name="Rectangle 2"/>
          <p:cNvSpPr/>
          <p:nvPr/>
        </p:nvSpPr>
        <p:spPr>
          <a:xfrm>
            <a:off x="685800" y="1234440"/>
            <a:ext cx="10820095" cy="1828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3362858"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97098" cy="4114800"/>
          </a:xfrm>
          <a:prstGeom prst="rect">
            <a:avLst/>
          </a:prstGeom>
          <a:noFill/>
        </p:spPr>
        <p:txBody>
          <a:bodyPr wrap="square" lIns="0" rIns="0" tIns="0" bIns="0">
            <a:spAutoFit/>
          </a:bodyPr>
          <a:lstStyle/>
          <a:p>
            <a:pPr>
              <a:spcAft>
                <a:spcPts val="1400"/>
              </a:spcAft>
              <a:defRPr sz="1600" b="1">
                <a:solidFill>
                  <a:srgbClr val="00E5FF"/>
                </a:solidFill>
                <a:latin typeface="Trebuchet MS"/>
              </a:defRPr>
            </a:pPr>
            <a:r>
              <a:t>SWOT - Strengh (4.3/5.0)</a:t>
            </a:r>
          </a:p>
          <a:p>
            <a:pPr>
              <a:spcAft>
                <a:spcPts val="600"/>
              </a:spcAft>
              <a:defRPr sz="1200">
                <a:solidFill>
                  <a:srgbClr val="F9FAFB"/>
                </a:solidFill>
                <a:latin typeface="Calibri"/>
              </a:defRPr>
            </a:pPr>
            <a:r>
              <a:t>• Lối chơi dễ tiếp cận , phù hợp cho mọi lứa tuổi, phiên chơi ngắn không tốn nhiều thời gian</a:t>
            </a:r>
          </a:p>
          <a:p>
            <a:pPr>
              <a:spcAft>
                <a:spcPts val="600"/>
              </a:spcAft>
              <a:defRPr sz="1200">
                <a:solidFill>
                  <a:srgbClr val="F9FAFB"/>
                </a:solidFill>
                <a:latin typeface="Calibri"/>
              </a:defRPr>
            </a:pPr>
            <a:r>
              <a:t>• Cấu hình thấp không kén hdh và cấu hình máy, dễ tiếp cận user, và chi phí CPI sẽ thấp</a:t>
            </a:r>
          </a:p>
          <a:p>
            <a:pPr>
              <a:spcAft>
                <a:spcPts val="600"/>
              </a:spcAft>
              <a:defRPr sz="1200">
                <a:solidFill>
                  <a:srgbClr val="F9FAFB"/>
                </a:solidFill>
                <a:latin typeface="Calibri"/>
              </a:defRPr>
            </a:pPr>
            <a:r>
              <a:t>• Gameplay cạnh tranh tương tác liên tục dễ gây nghiện</a:t>
            </a:r>
          </a:p>
          <a:p>
            <a:pPr>
              <a:spcAft>
                <a:spcPts val="600"/>
              </a:spcAft>
              <a:defRPr sz="1200">
                <a:solidFill>
                  <a:srgbClr val="F9FAFB"/>
                </a:solidFill>
                <a:latin typeface="Calibri"/>
              </a:defRPr>
            </a:pPr>
            <a:r>
              <a:t>• Game đã hoạt động gần 10 năm, nên có nền tảng tốt cả về hoạt động và thu phí để có thể vận hành</a:t>
            </a:r>
          </a:p>
          <a:p>
            <a:pPr>
              <a:spcAft>
                <a:spcPts val="600"/>
              </a:spcAft>
              <a:defRPr sz="1200">
                <a:solidFill>
                  <a:srgbClr val="F9FAFB"/>
                </a:solidFill>
                <a:latin typeface="Calibri"/>
              </a:defRPr>
            </a:pPr>
            <a:r>
              <a:t>• Game có tính năng team-play có thể chơi theo team</a:t>
            </a:r>
          </a:p>
          <a:p>
            <a:pPr>
              <a:spcAft>
                <a:spcPts val="600"/>
              </a:spcAft>
              <a:defRPr sz="1200">
                <a:solidFill>
                  <a:srgbClr val="F9FAFB"/>
                </a:solidFill>
                <a:latin typeface="Calibri"/>
              </a:defRPr>
            </a:pPr>
            <a:r>
              <a:t>• Game có kết hợp skill để phô diễn chiến thuật và kĩ năng tạo các highlight kịch tính</a:t>
            </a:r>
          </a:p>
          <a:p>
            <a:pPr>
              <a:spcAft>
                <a:spcPts val="600"/>
              </a:spcAft>
              <a:defRPr sz="1200">
                <a:solidFill>
                  <a:srgbClr val="F9FAFB"/>
                </a:solidFill>
                <a:latin typeface="Calibri"/>
              </a:defRPr>
            </a:pPr>
            <a:r>
              <a:t>• Game ngoài các mode của chế độ cổ điển (gameplay gốc), thì còn có các mode chơi kết hợp của các loại gameplay khác như cắt cỏ</a:t>
            </a:r>
          </a:p>
          <a:p>
            <a:pPr>
              <a:spcAft>
                <a:spcPts val="600"/>
              </a:spcAft>
              <a:defRPr sz="1200">
                <a:solidFill>
                  <a:srgbClr val="F9FAFB"/>
                </a:solidFill>
                <a:latin typeface="Calibri"/>
              </a:defRPr>
            </a:pPr>
            <a:r>
              <a:t>• UI và đồ họa đẹp dễ nhìn và bắt mắt, tạo hình avatar độc quyền, hiệu ứng viền độc đáo</a:t>
            </a:r>
          </a:p>
          <a:p>
            <a:pPr>
              <a:spcAft>
                <a:spcPts val="600"/>
              </a:spcAft>
              <a:defRPr sz="1200">
                <a:solidFill>
                  <a:srgbClr val="F9FAFB"/>
                </a:solidFill>
                <a:latin typeface="Calibri"/>
              </a:defRPr>
            </a:pPr>
            <a:r>
              <a:t>• Có mini app trên wechat với lối chơi đơn giản, phù hợp chạy nhiều nền tảng</a:t>
            </a:r>
          </a:p>
        </p:txBody>
      </p:sp>
      <p:sp>
        <p:nvSpPr>
          <p:cNvPr id="6" name="Rounded Rectangle 5"/>
          <p:cNvSpPr/>
          <p:nvPr/>
        </p:nvSpPr>
        <p:spPr>
          <a:xfrm>
            <a:off x="4414418" y="1645920"/>
            <a:ext cx="3362858"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1828800"/>
            <a:ext cx="2997098" cy="4114800"/>
          </a:xfrm>
          <a:prstGeom prst="rect">
            <a:avLst/>
          </a:prstGeom>
          <a:noFill/>
        </p:spPr>
        <p:txBody>
          <a:bodyPr wrap="square" lIns="0" rIns="0" tIns="0" bIns="0">
            <a:spAutoFit/>
          </a:bodyPr>
          <a:lstStyle/>
          <a:p>
            <a:pPr>
              <a:spcAft>
                <a:spcPts val="1400"/>
              </a:spcAft>
              <a:defRPr sz="1600" b="1">
                <a:solidFill>
                  <a:srgbClr val="FF6B35"/>
                </a:solidFill>
                <a:latin typeface="Trebuchet MS"/>
              </a:defRPr>
            </a:pPr>
            <a:r>
              <a:t>SWOT - Weakness (4.3/5.0)</a:t>
            </a:r>
          </a:p>
          <a:p>
            <a:pPr>
              <a:spcAft>
                <a:spcPts val="600"/>
              </a:spcAft>
              <a:defRPr sz="1200">
                <a:solidFill>
                  <a:srgbClr val="F9FAFB"/>
                </a:solidFill>
                <a:latin typeface="Calibri"/>
              </a:defRPr>
            </a:pPr>
            <a:r>
              <a:t>• Với người chơi mới nếu chưa từng tiếp cận qua dòng game này sẽ dễ bị ngộp, khiến nản nhanh và dễ thoát game</a:t>
            </a:r>
          </a:p>
          <a:p>
            <a:pPr>
              <a:spcAft>
                <a:spcPts val="600"/>
              </a:spcAft>
              <a:defRPr sz="1200">
                <a:solidFill>
                  <a:srgbClr val="F9FAFB"/>
                </a:solidFill>
                <a:latin typeface="Calibri"/>
              </a:defRPr>
            </a:pPr>
            <a:r>
              <a:t>• Hiện event trong game rất nhiều dễ khiến user bị ngộp và khó chịu</a:t>
            </a:r>
          </a:p>
          <a:p>
            <a:pPr>
              <a:spcAft>
                <a:spcPts val="600"/>
              </a:spcAft>
              <a:defRPr sz="1200">
                <a:solidFill>
                  <a:srgbClr val="F9FAFB"/>
                </a:solidFill>
                <a:latin typeface="Calibri"/>
              </a:defRPr>
            </a:pPr>
            <a:r>
              <a:t>• Lối chơi đơn giản và không có chiều sâu, chơi lâu dễ ngán</a:t>
            </a:r>
          </a:p>
          <a:p>
            <a:pPr>
              <a:spcAft>
                <a:spcPts val="600"/>
              </a:spcAft>
              <a:defRPr sz="1200">
                <a:solidFill>
                  <a:srgbClr val="F9FAFB"/>
                </a:solidFill>
                <a:latin typeface="Calibri"/>
              </a:defRPr>
            </a:pPr>
            <a:r>
              <a:t>• Tuy đồ họa bên ngoài rất đẹp, nhưng map chơi vẫn rất đơn giản không bắt mắt</a:t>
            </a:r>
          </a:p>
        </p:txBody>
      </p:sp>
      <p:sp>
        <p:nvSpPr>
          <p:cNvPr id="8" name="Rounded Rectangle 7"/>
          <p:cNvSpPr/>
          <p:nvPr/>
        </p:nvSpPr>
        <p:spPr>
          <a:xfrm>
            <a:off x="8143036" y="1645920"/>
            <a:ext cx="3362858"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5916" y="1828800"/>
            <a:ext cx="2997098" cy="4114800"/>
          </a:xfrm>
          <a:prstGeom prst="rect">
            <a:avLst/>
          </a:prstGeom>
          <a:noFill/>
        </p:spPr>
        <p:txBody>
          <a:bodyPr wrap="square" lIns="0" rIns="0" tIns="0" bIns="0">
            <a:spAutoFit/>
          </a:bodyPr>
          <a:lstStyle/>
          <a:p>
            <a:pPr>
              <a:spcAft>
                <a:spcPts val="1400"/>
              </a:spcAft>
              <a:defRPr sz="1600" b="1">
                <a:solidFill>
                  <a:srgbClr val="00E5FF"/>
                </a:solidFill>
                <a:latin typeface="Trebuchet MS"/>
              </a:defRPr>
            </a:pPr>
            <a:r>
              <a:t>SWOT - Oppotunities (4.3/5.0)</a:t>
            </a:r>
          </a:p>
          <a:p>
            <a:pPr>
              <a:spcAft>
                <a:spcPts val="600"/>
              </a:spcAft>
              <a:defRPr sz="1200">
                <a:solidFill>
                  <a:srgbClr val="F9FAFB"/>
                </a:solidFill>
                <a:latin typeface="Calibri"/>
              </a:defRPr>
            </a:pPr>
            <a:r>
              <a:t>• Game từng có 1 thời gian nổi ở khu vực ĐNÁ với 7tr người tham gia mỗi ngày, nên có thể tạo hiệu ứng nếu triển khai lại</a:t>
            </a:r>
          </a:p>
          <a:p>
            <a:pPr>
              <a:spcAft>
                <a:spcPts val="600"/>
              </a:spcAft>
              <a:defRPr sz="1200">
                <a:solidFill>
                  <a:srgbClr val="F9FAFB"/>
                </a:solidFill>
                <a:latin typeface="Calibri"/>
              </a:defRPr>
            </a:pPr>
            <a:r>
              <a:t>• Game có thể tổ chức các giải mini esport để truyền thông và tăng retention</a:t>
            </a:r>
          </a:p>
          <a:p>
            <a:pPr>
              <a:spcAft>
                <a:spcPts val="600"/>
              </a:spcAft>
              <a:defRPr sz="1200">
                <a:solidFill>
                  <a:srgbClr val="F9FAFB"/>
                </a:solidFill>
                <a:latin typeface="Calibri"/>
              </a:defRPr>
            </a:pPr>
            <a:r>
              <a:t>• Gói nạp mệnh giá thấp, đồng thời kết hợp mô hình kiếm tiền từ IAA sẽ phù hợp xu thế thị trường bây giờ, ngoài ra có thể làm thêm skin/avatar theo văn hóa thị trường Việt Nam</a:t>
            </a:r>
          </a:p>
          <a:p>
            <a:pPr>
              <a:spcAft>
                <a:spcPts val="600"/>
              </a:spcAft>
              <a:defRPr sz="1200">
                <a:solidFill>
                  <a:srgbClr val="F9FAFB"/>
                </a:solidFill>
                <a:latin typeface="Calibri"/>
              </a:defRPr>
            </a:pPr>
            <a:r>
              <a:t>• Nếu kết hợp với các nhà sáng tạo nội dung tốt, có thể viral nhanh và mạnh mẽ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lIns="0" rIns="0" tIns="0" bIns="0">
            <a:spAutoFit/>
          </a:bodyPr>
          <a:lstStyle/>
          <a:p>
            <a:pPr>
              <a:defRPr sz="2800" b="1">
                <a:solidFill>
                  <a:srgbClr val="00E5FF"/>
                </a:solidFill>
                <a:latin typeface="Trebuchet MS"/>
              </a:defRPr>
            </a:pPr>
            <a:r>
              <a:t>Phân tích Chi tiết Hạng mục (Phần 2)</a:t>
            </a:r>
          </a:p>
          <a:p>
            <a:pPr>
              <a:spcBef>
                <a:spcPts val="400"/>
              </a:spcBef>
              <a:defRPr sz="1000" b="1">
                <a:solidFill>
                  <a:srgbClr val="9CA3AF"/>
                </a:solidFill>
                <a:latin typeface="Calibri"/>
              </a:defRPr>
            </a:pPr>
            <a:r>
              <a:t>PHÂN TÍCH CHI TIẾT</a:t>
            </a:r>
          </a:p>
        </p:txBody>
      </p:sp>
      <p:sp>
        <p:nvSpPr>
          <p:cNvPr id="3" name="Rectangle 2"/>
          <p:cNvSpPr/>
          <p:nvPr/>
        </p:nvSpPr>
        <p:spPr>
          <a:xfrm>
            <a:off x="685800" y="1234440"/>
            <a:ext cx="10820095" cy="1828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3362858"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97098" cy="4114800"/>
          </a:xfrm>
          <a:prstGeom prst="rect">
            <a:avLst/>
          </a:prstGeom>
          <a:noFill/>
        </p:spPr>
        <p:txBody>
          <a:bodyPr wrap="square" lIns="0" rIns="0" tIns="0" bIns="0">
            <a:spAutoFit/>
          </a:bodyPr>
          <a:lstStyle/>
          <a:p>
            <a:pPr>
              <a:spcAft>
                <a:spcPts val="1400"/>
              </a:spcAft>
              <a:defRPr sz="1600" b="1">
                <a:solidFill>
                  <a:srgbClr val="00E5FF"/>
                </a:solidFill>
                <a:latin typeface="Trebuchet MS"/>
              </a:defRPr>
            </a:pPr>
            <a:r>
              <a:t>Cổ điển (3.5/5.0)</a:t>
            </a:r>
          </a:p>
          <a:p>
            <a:pPr>
              <a:spcAft>
                <a:spcPts val="600"/>
              </a:spcAft>
              <a:defRPr sz="1200">
                <a:solidFill>
                  <a:srgbClr val="F9FAFB"/>
                </a:solidFill>
                <a:latin typeface="Calibri"/>
              </a:defRPr>
            </a:pPr>
            <a:r>
              <a:t>Bao gồm đồng đội, hoặc sinh tồn</a:t>
            </a:r>
          </a:p>
        </p:txBody>
      </p:sp>
      <p:sp>
        <p:nvSpPr>
          <p:cNvPr id="6" name="Rounded Rectangle 5"/>
          <p:cNvSpPr/>
          <p:nvPr/>
        </p:nvSpPr>
        <p:spPr>
          <a:xfrm>
            <a:off x="4414418" y="1645920"/>
            <a:ext cx="3362858"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1828800"/>
            <a:ext cx="2997098" cy="4114800"/>
          </a:xfrm>
          <a:prstGeom prst="rect">
            <a:avLst/>
          </a:prstGeom>
          <a:noFill/>
        </p:spPr>
        <p:txBody>
          <a:bodyPr wrap="square" lIns="0" rIns="0" tIns="0" bIns="0">
            <a:spAutoFit/>
          </a:bodyPr>
          <a:lstStyle/>
          <a:p>
            <a:pPr>
              <a:spcAft>
                <a:spcPts val="1400"/>
              </a:spcAft>
              <a:defRPr sz="1600" b="1">
                <a:solidFill>
                  <a:srgbClr val="FF6B35"/>
                </a:solidFill>
                <a:latin typeface="Trebuchet MS"/>
              </a:defRPr>
            </a:pPr>
            <a:r>
              <a:t>Xếp hạng đỉnh cao (3.5/5.0)</a:t>
            </a:r>
          </a:p>
          <a:p>
            <a:pPr>
              <a:spcAft>
                <a:spcPts val="600"/>
              </a:spcAft>
              <a:defRPr sz="1200">
                <a:solidFill>
                  <a:srgbClr val="F9FAFB"/>
                </a:solidFill>
                <a:latin typeface="Calibri"/>
              </a:defRPr>
            </a:pPr>
            <a:r>
              <a:t>Thi đấu để xếp hạng mỗi mùa giải kéo dài 30 ngày</a:t>
            </a:r>
          </a:p>
        </p:txBody>
      </p:sp>
      <p:sp>
        <p:nvSpPr>
          <p:cNvPr id="8" name="Rounded Rectangle 7"/>
          <p:cNvSpPr/>
          <p:nvPr/>
        </p:nvSpPr>
        <p:spPr>
          <a:xfrm>
            <a:off x="8143036" y="1645920"/>
            <a:ext cx="3362858"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5916" y="1828800"/>
            <a:ext cx="2997098" cy="4114800"/>
          </a:xfrm>
          <a:prstGeom prst="rect">
            <a:avLst/>
          </a:prstGeom>
          <a:noFill/>
        </p:spPr>
        <p:txBody>
          <a:bodyPr wrap="square" lIns="0" rIns="0" tIns="0" bIns="0">
            <a:spAutoFit/>
          </a:bodyPr>
          <a:lstStyle/>
          <a:p>
            <a:pPr>
              <a:spcAft>
                <a:spcPts val="1400"/>
              </a:spcAft>
              <a:defRPr sz="1600" b="1">
                <a:solidFill>
                  <a:srgbClr val="00E5FF"/>
                </a:solidFill>
                <a:latin typeface="Trebuchet MS"/>
              </a:defRPr>
            </a:pPr>
            <a:r>
              <a:t>Thi đấu phổ thông (3.5/5.0)</a:t>
            </a:r>
          </a:p>
          <a:p>
            <a:pPr>
              <a:spcAft>
                <a:spcPts val="600"/>
              </a:spcAft>
              <a:defRPr sz="1200">
                <a:solidFill>
                  <a:srgbClr val="F9FAFB"/>
                </a:solidFill>
                <a:latin typeface="Calibri"/>
              </a:defRPr>
            </a:pPr>
            <a:r>
              <a:t>Với 8 chế độ khác nhau, với nhiều lối chơi thú vị, và có xếp hạng riêng biệt với cả từng lối chơi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lIns="0" rIns="0" tIns="0" bIns="0">
            <a:spAutoFit/>
          </a:bodyPr>
          <a:lstStyle/>
          <a:p>
            <a:pPr>
              <a:defRPr sz="2800" b="1">
                <a:solidFill>
                  <a:srgbClr val="00E5FF"/>
                </a:solidFill>
                <a:latin typeface="Trebuchet MS"/>
              </a:defRPr>
            </a:pPr>
            <a:r>
              <a:t>Kết quả Nghiên cứu Đối thủ &amp; Xu hướng</a:t>
            </a:r>
          </a:p>
          <a:p>
            <a:pPr>
              <a:spcBef>
                <a:spcPts val="400"/>
              </a:spcBef>
              <a:defRPr sz="1000" b="1">
                <a:solidFill>
                  <a:srgbClr val="9CA3AF"/>
                </a:solidFill>
                <a:latin typeface="Calibri"/>
              </a:defRPr>
            </a:pPr>
            <a:r>
              <a:t>PHÂN TÍCH CHI TIẾT</a:t>
            </a:r>
          </a:p>
        </p:txBody>
      </p:sp>
      <p:sp>
        <p:nvSpPr>
          <p:cNvPr id="3" name="Rectangle 2"/>
          <p:cNvSpPr/>
          <p:nvPr/>
        </p:nvSpPr>
        <p:spPr>
          <a:xfrm>
            <a:off x="685800" y="1234440"/>
            <a:ext cx="10820095" cy="1828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10820095" cy="4480560"/>
          </a:xfrm>
          <a:prstGeom prst="roundRect">
            <a:avLst/>
          </a:prstGeom>
          <a:solidFill>
            <a:srgbClr val="1F2937"/>
          </a:solidFill>
          <a:ln w="1905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10454335" cy="4114800"/>
          </a:xfrm>
          <a:prstGeom prst="rect">
            <a:avLst/>
          </a:prstGeom>
          <a:noFill/>
        </p:spPr>
        <p:txBody>
          <a:bodyPr wrap="square" lIns="0" rIns="0" tIns="0" bIns="0">
            <a:spAutoFit/>
          </a:bodyPr>
          <a:lstStyle/>
          <a:p>
            <a:pPr>
              <a:spcAft>
                <a:spcPts val="1400"/>
              </a:spcAft>
              <a:defRPr sz="1600" b="1">
                <a:solidFill>
                  <a:srgbClr val="00E5FF"/>
                </a:solidFill>
                <a:latin typeface="Trebuchet MS"/>
              </a:defRPr>
            </a:pPr>
            <a:r>
              <a:t>Nhận định chiến lược từ AI:</a:t>
            </a:r>
          </a:p>
          <a:p>
            <a:pPr>
              <a:spcAft>
                <a:spcPts val="600"/>
              </a:spcAft>
              <a:defRPr sz="1200">
                <a:solidFill>
                  <a:srgbClr val="F9FAFB"/>
                </a:solidFill>
                <a:latin typeface="Calibri"/>
              </a:defRPr>
            </a:pPr>
            <a:r>
              <a:t>• Cần tập trung cải thiện các điểm hạn chế đã ghi nhận trong phần phân tích chi tiết.</a:t>
            </a:r>
          </a:p>
          <a:p>
            <a:pPr>
              <a:spcAft>
                <a:spcPts val="600"/>
              </a:spcAft>
              <a:defRPr sz="1200">
                <a:solidFill>
                  <a:srgbClr val="F9FAFB"/>
                </a:solidFill>
                <a:latin typeface="Calibri"/>
              </a:defRPr>
            </a:pPr>
            <a:r>
              <a:t>• Chuẩn bị các phương án vận hành linh hoạt dựa theo đặc thù thị trường Việt Nam.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lIns="0" rIns="0" tIns="0" bIns="0">
            <a:spAutoFit/>
          </a:bodyPr>
          <a:lstStyle/>
          <a:p>
            <a:pPr>
              <a:defRPr sz="2800" b="1">
                <a:solidFill>
                  <a:srgbClr val="00E5FF"/>
                </a:solidFill>
                <a:latin typeface="Trebuchet MS"/>
              </a:defRPr>
            </a:pPr>
            <a:r>
              <a:t>Đề xuất Hành động tiếp theo (Action Items)</a:t>
            </a:r>
          </a:p>
          <a:p>
            <a:pPr>
              <a:spcBef>
                <a:spcPts val="400"/>
              </a:spcBef>
              <a:defRPr sz="1000" b="1">
                <a:solidFill>
                  <a:srgbClr val="9CA3AF"/>
                </a:solidFill>
                <a:latin typeface="Calibri"/>
              </a:defRPr>
            </a:pPr>
            <a:r>
              <a:t>ĐỀ XUẤT HÀNH ĐỘNG</a:t>
            </a:r>
          </a:p>
        </p:txBody>
      </p:sp>
      <p:sp>
        <p:nvSpPr>
          <p:cNvPr id="3" name="Rectangle 2"/>
          <p:cNvSpPr/>
          <p:nvPr/>
        </p:nvSpPr>
        <p:spPr>
          <a:xfrm>
            <a:off x="685800" y="1234440"/>
            <a:ext cx="10820095" cy="18288"/>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4389120"/>
          </a:xfrm>
          <a:prstGeom prst="rect">
            <a:avLst/>
          </a:prstGeom>
          <a:noFill/>
        </p:spPr>
        <p:txBody>
          <a:bodyPr wrap="square" lIns="0" rIns="0" tIns="0" bIns="0">
            <a:spAutoFit/>
          </a:bodyPr>
          <a:lstStyle/>
          <a:p>
            <a:pPr>
              <a:spcAft>
                <a:spcPts val="1000"/>
              </a:spcAft>
              <a:defRPr sz="1500" b="1">
                <a:solidFill>
                  <a:srgbClr val="F9FAFB"/>
                </a:solidFill>
                <a:latin typeface="Calibri"/>
              </a:defRPr>
            </a:pPr>
            <a:r>
              <a:t>1. **Tối ưu hóa sản phẩm:** Sửa đổi các lỗi thiết kế UI/UX và cơ chế game chưa cân bằng.</a:t>
            </a:r>
          </a:p>
          <a:p>
            <a:pPr>
              <a:spcAft>
                <a:spcPts val="1000"/>
              </a:spcAft>
              <a:defRPr sz="1500" b="1">
                <a:solidFill>
                  <a:srgbClr val="F9FAFB"/>
                </a:solidFill>
                <a:latin typeface="Calibri"/>
              </a:defRPr>
            </a:pPr>
            <a:r>
              <a:t>2. **Định hình mô hình kinh doanh:** Điều chỉnh chiến lược nạp IAP và quảng cáo để không ảnh hưởng xấu tới trải nghiệm người dùng.</a:t>
            </a:r>
          </a:p>
          <a:p>
            <a:pPr>
              <a:spcAft>
                <a:spcPts val="1000"/>
              </a:spcAft>
              <a:defRPr sz="1500" b="1">
                <a:solidFill>
                  <a:srgbClr val="F9FAFB"/>
                </a:solidFill>
                <a:latin typeface="Calibri"/>
              </a:defRPr>
            </a:pPr>
            <a:r>
              <a:t>3. **Xuất PowerPoint:** Sử dụng cấu trúc slide Markdown này để đóng gói thành file PPTX thuyết trình chính thức.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