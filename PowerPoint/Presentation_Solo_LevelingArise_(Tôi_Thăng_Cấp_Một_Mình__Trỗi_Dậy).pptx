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2011680"/>
            <a:ext cx="73152" cy="27432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0584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4400" b="1">
                <a:solidFill>
                  <a:srgbClr val="F9FAFB"/>
                </a:solidFill>
                <a:latin typeface="Trebuchet MS"/>
              </a:defRPr>
            </a:pPr>
            <a:r>
              <a:t>Solo Leveling:Arise (Tôi Thăng Cấp Một Mình : Trỗi Dậy)</a:t>
            </a:r>
          </a:p>
          <a:p>
            <a:pPr>
              <a:spcAft>
                <a:spcPts val="2400"/>
              </a:spcAft>
              <a:defRPr sz="1800">
                <a:solidFill>
                  <a:srgbClr val="FF6B35"/>
                </a:solidFill>
                <a:latin typeface="Calibri"/>
              </a:defRPr>
            </a:pPr>
            <a:r>
              <a:t>Báo cáo Đánh giá Sản phẩm  |  Thể loại: ** MMORPG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0E5FF"/>
                </a:solidFill>
                <a:latin typeface="Trebuchet MS"/>
              </a:defRPr>
            </a:pPr>
            <a:r>
              <a:t>Tổng quan dự án</a:t>
            </a:r>
          </a:p>
          <a:p>
            <a:pPr>
              <a:spcBef>
                <a:spcPts val="400"/>
              </a:spcBef>
              <a:defRPr sz="1000" b="1">
                <a:solidFill>
                  <a:srgbClr val="9CA3AF"/>
                </a:solidFill>
                <a:latin typeface="Calibri"/>
              </a:defRPr>
            </a:pPr>
            <a:r>
              <a:t>TỔNG KẾT THÔNG TIN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20095" cy="1828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Calibri"/>
              </a:defRPr>
            </a:pPr>
            <a:r>
              <a:t>• **Tên sản phẩm:** Solo Leveling:Arise (Tôi Thăng Cấp Một Mình : Trỗi Dậy)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Calibri"/>
              </a:defRPr>
            </a:pPr>
            <a:r>
              <a:t>• **Thể loại:** MMORPG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Calibri"/>
              </a:defRPr>
            </a:pPr>
            <a:r>
              <a:t>• **Đối thủ chính:** Không có (N/A)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Calibri"/>
              </a:defRPr>
            </a:pPr>
            <a:r>
              <a:t>• **Chỉ số đánh giá trung bình:** 3.6/5.0</a:t>
            </a:r>
          </a:p>
          <a:p>
            <a:pPr>
              <a:spcAft>
                <a:spcPts val="800"/>
              </a:spcAft>
              <a:defRPr sz="1500">
                <a:solidFill>
                  <a:srgbClr val="F9FAFB"/>
                </a:solidFill>
                <a:latin typeface="Calibri"/>
              </a:defRPr>
            </a:pPr>
            <a:r>
              <a:t>• **Tóm tắt nhanh:** Báo cáo được phân tích tự động từ dữ liệu ghi chú Excel và phân tích cạnh tranh của AI Agent.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0E5FF"/>
                </a:solidFill>
                <a:latin typeface="Trebuchet MS"/>
              </a:defRPr>
            </a:pPr>
            <a:r>
              <a:t>Bảng điểm chất lượng (Scorecard)</a:t>
            </a:r>
          </a:p>
          <a:p>
            <a:pPr>
              <a:spcBef>
                <a:spcPts val="400"/>
              </a:spcBef>
              <a:defRPr sz="1000" b="1">
                <a:solidFill>
                  <a:srgbClr val="9CA3AF"/>
                </a:solidFill>
                <a:latin typeface="Calibri"/>
              </a:defRPr>
            </a:pPr>
            <a:r>
              <a:t>ĐÁNH GIÁ CHẤT LƯỢNG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20095" cy="1828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9FAFB"/>
                </a:solidFill>
                <a:latin typeface="Calibri"/>
              </a:defRPr>
            </a:pPr>
            <a:r>
              <a:t>SWOT - Strengh</a:t>
            </a:r>
            <a:r>
              <a:rPr sz="1300" b="1">
                <a:solidFill>
                  <a:srgbClr val="10B981"/>
                </a:solidFill>
                <a:latin typeface="Calibri"/>
              </a:rPr>
              <a:t>  (4.3/5.0)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0" y="1700784"/>
            <a:ext cx="5486400" cy="10972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0" y="1700784"/>
            <a:ext cx="4718304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93392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9FAFB"/>
                </a:solidFill>
                <a:latin typeface="Calibri"/>
              </a:defRPr>
            </a:pPr>
            <a:r>
              <a:t>SWOT - Weakness</a:t>
            </a:r>
            <a:r>
              <a:rPr sz="1300" b="1">
                <a:solidFill>
                  <a:srgbClr val="00E5FF"/>
                </a:solidFill>
                <a:latin typeface="Calibri"/>
              </a:rPr>
              <a:t>  (3.5/5.0)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2139696"/>
            <a:ext cx="5486400" cy="10972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0" y="2139696"/>
            <a:ext cx="3840479" cy="1097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432304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9FAFB"/>
                </a:solidFill>
                <a:latin typeface="Calibri"/>
              </a:defRPr>
            </a:pPr>
            <a:r>
              <a:t>SWOT - Oppotunities</a:t>
            </a:r>
            <a:r>
              <a:rPr sz="1300" b="1">
                <a:solidFill>
                  <a:srgbClr val="10B981"/>
                </a:solidFill>
                <a:latin typeface="Calibri"/>
              </a:rPr>
              <a:t>  (4.3/5.0)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2578608"/>
            <a:ext cx="5486400" cy="10972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0" y="2578608"/>
            <a:ext cx="4718304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871216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9FAFB"/>
                </a:solidFill>
                <a:latin typeface="Calibri"/>
              </a:defRPr>
            </a:pPr>
            <a:r>
              <a:t>SWOT - Threats</a:t>
            </a:r>
            <a:r>
              <a:rPr sz="1300" b="1">
                <a:solidFill>
                  <a:srgbClr val="10B981"/>
                </a:solidFill>
                <a:latin typeface="Calibri"/>
              </a:rPr>
              <a:t>  (4.3/5.0)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3017520"/>
            <a:ext cx="5486400" cy="10972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0" y="3017520"/>
            <a:ext cx="4718304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31012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9FAFB"/>
                </a:solidFill>
                <a:latin typeface="Calibri"/>
              </a:defRPr>
            </a:pPr>
            <a:r>
              <a:t>Tổng kết đánh giá</a:t>
            </a:r>
            <a:r>
              <a:rPr sz="1300" b="1">
                <a:solidFill>
                  <a:srgbClr val="00E5FF"/>
                </a:solidFill>
                <a:latin typeface="Calibri"/>
              </a:rPr>
              <a:t>  (3.0/5.0)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3456432"/>
            <a:ext cx="5486400" cy="10972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0" y="3456432"/>
            <a:ext cx="3291840" cy="1097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4904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9FAFB"/>
                </a:solidFill>
                <a:latin typeface="Calibri"/>
              </a:defRPr>
            </a:pPr>
            <a:r>
              <a:t>Tổng quát</a:t>
            </a:r>
            <a:r>
              <a:rPr sz="1300" b="1">
                <a:solidFill>
                  <a:srgbClr val="00E5FF"/>
                </a:solidFill>
                <a:latin typeface="Calibri"/>
              </a:rPr>
              <a:t>  (3.5/5.0)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3895344"/>
            <a:ext cx="5486400" cy="10972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0" y="3895344"/>
            <a:ext cx="3840479" cy="1097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187952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9FAFB"/>
                </a:solidFill>
                <a:latin typeface="Calibri"/>
              </a:defRPr>
            </a:pPr>
            <a:r>
              <a:t>Điểm thuộc tính</a:t>
            </a:r>
            <a:r>
              <a:rPr sz="1300" b="1">
                <a:solidFill>
                  <a:srgbClr val="00E5FF"/>
                </a:solidFill>
                <a:latin typeface="Calibri"/>
              </a:rPr>
              <a:t>  (3.5/5.0)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4334256"/>
            <a:ext cx="5486400" cy="10972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0" y="4334256"/>
            <a:ext cx="3840479" cy="1097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626864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9FAFB"/>
                </a:solidFill>
                <a:latin typeface="Calibri"/>
              </a:defRPr>
            </a:pPr>
            <a:r>
              <a:t>Nghề nghiệp</a:t>
            </a:r>
            <a:r>
              <a:rPr sz="1300" b="1">
                <a:solidFill>
                  <a:srgbClr val="00E5FF"/>
                </a:solidFill>
                <a:latin typeface="Calibri"/>
              </a:rPr>
              <a:t>  (3.5/5.0)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4773168"/>
            <a:ext cx="5486400" cy="10972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0" y="4773168"/>
            <a:ext cx="3840479" cy="1097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065776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9FAFB"/>
                </a:solidFill>
                <a:latin typeface="Calibri"/>
              </a:defRPr>
            </a:pPr>
            <a:r>
              <a:t>Vũ khí</a:t>
            </a:r>
            <a:r>
              <a:rPr sz="1300" b="1">
                <a:solidFill>
                  <a:srgbClr val="00E5FF"/>
                </a:solidFill>
                <a:latin typeface="Calibri"/>
              </a:rPr>
              <a:t>  (3.5/5.0)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5212080"/>
            <a:ext cx="5486400" cy="10972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3600" y="5212080"/>
            <a:ext cx="3840479" cy="1097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504688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9FAFB"/>
                </a:solidFill>
                <a:latin typeface="Calibri"/>
              </a:defRPr>
            </a:pPr>
            <a:r>
              <a:t>Trang Bị</a:t>
            </a:r>
            <a:r>
              <a:rPr sz="1300" b="1">
                <a:solidFill>
                  <a:srgbClr val="00E5FF"/>
                </a:solidFill>
                <a:latin typeface="Calibri"/>
              </a:rPr>
              <a:t>  (3.5/5.0)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5650992"/>
            <a:ext cx="5486400" cy="10972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43600" y="5650992"/>
            <a:ext cx="3840479" cy="1097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0E5FF"/>
                </a:solidFill>
                <a:latin typeface="Trebuchet MS"/>
              </a:defRPr>
            </a:pPr>
            <a:r>
              <a:t>Phân tích Chi tiết Hạng mục (Phần 1)</a:t>
            </a:r>
          </a:p>
          <a:p>
            <a:pPr>
              <a:spcBef>
                <a:spcPts val="400"/>
              </a:spcBef>
              <a:defRPr sz="1000" b="1">
                <a:solidFill>
                  <a:srgbClr val="9CA3AF"/>
                </a:solidFill>
                <a:latin typeface="Calibri"/>
              </a:defRPr>
            </a:pPr>
            <a:r>
              <a:t>PHÂN TÍCH CHI TIẾT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20095" cy="1828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3362858" cy="44805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2997098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0E5FF"/>
                </a:solidFill>
                <a:latin typeface="Trebuchet MS"/>
              </a:defRPr>
            </a:pPr>
            <a:r>
              <a:t>SWOT - Strengh (4.3/5.0)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• Đồ họa 3D đẹp, phong cách hiện đại, có tương tác với cả người chơi khác cũng như NPC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• Có nhiều map, cảnh quan sống động, hiệu ứng kỹ năng sống động, có hoạt cảnh đi kèm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• Giao diện UI dễ nhìn, rõ ràng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• Tạo hình nhân vật đẹp mắt và bám sát cốt truyện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• Tính năng game đa dạng không gây nhàm chán cho User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• Nhiều phó bản, chiến trường, combat nhanh và đã tay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4418" y="1645920"/>
            <a:ext cx="3362858" cy="44805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7298" y="1828800"/>
            <a:ext cx="2997098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F6B35"/>
                </a:solidFill>
                <a:latin typeface="Trebuchet MS"/>
              </a:defRPr>
            </a:pPr>
            <a:r>
              <a:t>SWOT - Weakness (3.5/5.0)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• Cấu hình khá cao đòi hỏi thiết bị tầm trung trở lên -&gt; Hạn chế bớt tập user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• Game MMORPG dạng đánh Dungeon, rất kén người chơi ở VN (user thích chơi open world hơn)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• Theme hơi thiên hướng Châu Âu, không được ưa chuộng lắm ở VN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• Tăng tiến sức mạnh phụ thuộc quá nhiều vào nhân vật chính, sẽ khó có thể giữ chân người chơi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• Game đòi hỏi phải thao tác bằng tay nhiều dành cho các User Hardcore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• Tỉ lệ gacha thấp dễ khiến drop user, và gây ra sự khó chịu trong trải nghiệm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43036" y="1645920"/>
            <a:ext cx="3362858" cy="44805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5916" y="1828800"/>
            <a:ext cx="2997098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0E5FF"/>
                </a:solidFill>
                <a:latin typeface="Trebuchet MS"/>
              </a:defRPr>
            </a:pPr>
            <a:r>
              <a:t>SWOT - Oppotunities (4.3/5.0)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• Game có IP chính chủ, và nhà dev lớn có danh tiến nên sẽ thu hút được 1 lượng user nhất định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• Đồ họa đẹp, hiệu ứng bắt mắt, combat sướng tay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• Nhà dev uy tín đảm bảo được tuổi thọ sản phẩm lâu dài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0E5FF"/>
                </a:solidFill>
                <a:latin typeface="Trebuchet MS"/>
              </a:defRPr>
            </a:pPr>
            <a:r>
              <a:t>Phân tích Chi tiết Hạng mục (Phần 2)</a:t>
            </a:r>
          </a:p>
          <a:p>
            <a:pPr>
              <a:spcBef>
                <a:spcPts val="400"/>
              </a:spcBef>
              <a:defRPr sz="1000" b="1">
                <a:solidFill>
                  <a:srgbClr val="9CA3AF"/>
                </a:solidFill>
                <a:latin typeface="Calibri"/>
              </a:defRPr>
            </a:pPr>
            <a:r>
              <a:t>PHÂN TÍCH CHI TIẾT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20095" cy="1828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3362858" cy="44805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2997098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0E5FF"/>
                </a:solidFill>
                <a:latin typeface="Trebuchet MS"/>
              </a:defRPr>
            </a:pPr>
            <a:r>
              <a:t>Tổng quan (3.5/5.0)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Thiết lập cũng khá giống với nhân vật chính, chia làm 5 nghề nghiệp : Chiến binh - Phù Thủy - Mục Sư - Xạ Thủ - Sát Thủ, và 5 nguyên tố : Lửa - Nước - Gió - Ánh Sáng - Bóng Tối, và chia làm 3 hạng R - SR - SSR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4418" y="1645920"/>
            <a:ext cx="3362858" cy="44805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7298" y="1828800"/>
            <a:ext cx="2997098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F6B35"/>
                </a:solidFill>
                <a:latin typeface="Trebuchet MS"/>
              </a:defRPr>
            </a:pPr>
            <a:r>
              <a:t>Tăng cấp - Tăng Sao (3.5/5.0)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Cũng có thể thăng cấp và tăng sao hunter để tăng cường điểm thuộc tính, và chuyển đổi nghề nghiệp khi đến level và cấp sao nhất định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43036" y="1645920"/>
            <a:ext cx="3362858" cy="44805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5916" y="1828800"/>
            <a:ext cx="2997098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0E5FF"/>
                </a:solidFill>
                <a:latin typeface="Trebuchet MS"/>
              </a:defRPr>
            </a:pPr>
            <a:r>
              <a:t>Vũ khí - Trang bị (3.5/5.0)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Cũng có thể tăng sao, cường hóa trang bị , giống với nhân vật chính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0E5FF"/>
                </a:solidFill>
                <a:latin typeface="Trebuchet MS"/>
              </a:defRPr>
            </a:pPr>
            <a:r>
              <a:t>Kết quả Nghiên cứu Đối thủ &amp; Xu hướng</a:t>
            </a:r>
          </a:p>
          <a:p>
            <a:pPr>
              <a:spcBef>
                <a:spcPts val="400"/>
              </a:spcBef>
              <a:defRPr sz="1000" b="1">
                <a:solidFill>
                  <a:srgbClr val="9CA3AF"/>
                </a:solidFill>
                <a:latin typeface="Calibri"/>
              </a:defRPr>
            </a:pPr>
            <a:r>
              <a:t>PHÂN TÍCH CHI TIẾT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20095" cy="1828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10820095" cy="448056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1045433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0E5FF"/>
                </a:solidFill>
                <a:latin typeface="Trebuchet MS"/>
              </a:defRPr>
            </a:pPr>
            <a:r>
              <a:t>Nhận định chiến lược từ AI: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• Cần tập trung cải thiện các điểm hạn chế đã ghi nhận trong phần phân tích chi tiết.</a:t>
            </a:r>
          </a:p>
          <a:p>
            <a:pPr>
              <a:spcAft>
                <a:spcPts val="600"/>
              </a:spcAft>
              <a:defRPr sz="1200">
                <a:solidFill>
                  <a:srgbClr val="F9FAFB"/>
                </a:solidFill>
                <a:latin typeface="Calibri"/>
              </a:defRPr>
            </a:pPr>
            <a:r>
              <a:t>• Chuẩn bị các phương án vận hành linh hoạt dựa theo đặc thù thị trường Việt Nam.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0E5FF"/>
                </a:solidFill>
                <a:latin typeface="Trebuchet MS"/>
              </a:defRPr>
            </a:pPr>
            <a:r>
              <a:t>Đề xuất Hành động tiếp theo (Action Items)</a:t>
            </a:r>
          </a:p>
          <a:p>
            <a:pPr>
              <a:spcBef>
                <a:spcPts val="400"/>
              </a:spcBef>
              <a:defRPr sz="1000" b="1">
                <a:solidFill>
                  <a:srgbClr val="9CA3AF"/>
                </a:solidFill>
                <a:latin typeface="Calibri"/>
              </a:defRPr>
            </a:pPr>
            <a:r>
              <a:t>ĐỀ XUẤT HÀNH ĐỘNG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0820095" cy="18288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2009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9FAFB"/>
                </a:solidFill>
                <a:latin typeface="Calibri"/>
              </a:defRPr>
            </a:pPr>
            <a:r>
              <a:t>1. **Tối ưu hóa sản phẩm:** Sửa đổi các lỗi thiết kế UI/UX và cơ chế game chưa cân bằng.</a:t>
            </a:r>
          </a:p>
          <a:p>
            <a:pPr>
              <a:spcAft>
                <a:spcPts val="1000"/>
              </a:spcAft>
              <a:defRPr sz="1500" b="1">
                <a:solidFill>
                  <a:srgbClr val="F9FAFB"/>
                </a:solidFill>
                <a:latin typeface="Calibri"/>
              </a:defRPr>
            </a:pPr>
            <a:r>
              <a:t>2. **Định hình mô hình kinh doanh:** Điều chỉnh chiến lược nạp IAP và quảng cáo để không ảnh hưởng xấu tới trải nghiệm người dùng.</a:t>
            </a:r>
          </a:p>
          <a:p>
            <a:pPr>
              <a:spcAft>
                <a:spcPts val="1000"/>
              </a:spcAft>
              <a:defRPr sz="1500" b="1">
                <a:solidFill>
                  <a:srgbClr val="F9FAFB"/>
                </a:solidFill>
                <a:latin typeface="Calibri"/>
              </a:defRPr>
            </a:pPr>
            <a:r>
              <a:t>3. **Xuất PowerPoint:** Sử dụng cấu trúc slide Markdown này để đóng gói thành file PPTX thuyết trình chính thức.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